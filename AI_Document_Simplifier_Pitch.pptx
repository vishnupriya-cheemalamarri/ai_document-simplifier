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548640"/>
            <a:ext cx="3291840" cy="3291840"/>
          </a:xfrm>
          <a:prstGeom prst="ellipse">
            <a:avLst/>
          </a:prstGeom>
          <a:solidFill>
            <a:srgbClr val="2FE6C4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PRODAPT HACKATHON  •  GROUP 17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Document Simplifier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dense policies, reports, manuals and agreements into plain language— with grounded, cited answers to every question.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verified end-to-end — not just designed on paper.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709160"/>
            <a:ext cx="1815998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709160"/>
            <a:ext cx="18159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29230" y="4709160"/>
            <a:ext cx="2264054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9230" y="4709160"/>
            <a:ext cx="22640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FAISS + BM25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4709160"/>
            <a:ext cx="1278331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7877" y="4709160"/>
            <a:ext cx="12783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4709160"/>
            <a:ext cx="1009498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709160"/>
            <a:ext cx="10094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PII-Safe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Simplifier  •  Prodapt Hackathon  •  Group 17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documents create real friction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reports, manuals and agreements carry information people genuinely need—but the language, length and structure make that information hard to reach.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7008" y="28254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language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313639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and technical phrasing obscures the point of a document.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387705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quick answers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41879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can't ask a direct question and get a grounded response.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49286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 buried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52395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clauses and terms are scattered across long text.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1508760"/>
            <a:ext cx="4800600" cy="4617720"/>
          </a:xfrm>
          <a:prstGeom prst="roundRect">
            <a:avLst>
              <a:gd name="adj" fmla="val 1980"/>
            </a:avLst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18288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214884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AI tool that simplifies complex documents, surfaces their key points, and answers user questions—grounded in the document itself.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23760" y="3703320"/>
            <a:ext cx="4069080" cy="457200"/>
          </a:xfrm>
          <a:prstGeom prst="roundRect">
            <a:avLst>
              <a:gd name="adj" fmla="val 14000"/>
            </a:avLst>
          </a:prstGeom>
          <a:solidFill>
            <a:srgbClr val="065A82">
              <a:alpha val="7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37033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223760" y="4251960"/>
            <a:ext cx="4069080" cy="457200"/>
          </a:xfrm>
          <a:prstGeom prst="roundRect">
            <a:avLst>
              <a:gd name="adj" fmla="val 14000"/>
            </a:avLst>
          </a:prstGeom>
          <a:solidFill>
            <a:srgbClr val="065A82">
              <a:alpha val="7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42519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223760" y="4800600"/>
            <a:ext cx="4069080" cy="457200"/>
          </a:xfrm>
          <a:prstGeom prst="roundRect">
            <a:avLst>
              <a:gd name="adj" fmla="val 14000"/>
            </a:avLst>
          </a:prstGeom>
          <a:solidFill>
            <a:srgbClr val="065A82">
              <a:alpha val="7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48006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223760" y="5349240"/>
            <a:ext cx="4069080" cy="457200"/>
          </a:xfrm>
          <a:prstGeom prst="roundRect">
            <a:avLst>
              <a:gd name="adj" fmla="val 14000"/>
            </a:avLst>
          </a:prstGeom>
          <a:solidFill>
            <a:srgbClr val="065A82">
              <a:alpha val="7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53492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Simplifier  •  Prodapt Hackathon  •  Group 17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AI—redesigned where testing demanded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core pieces were rebuilt mid-build after real testing exposed limits in the original design—not left as-is for the sake of the plan.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2F7F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414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24048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Chunking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boundaries land at real topic shifts (lowest sentence-to-sentence similarity), bounded 10–20 sentences. Replaced an earlier fixed word-count chunker.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214884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2F7F9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24414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24048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Persisted Retrieval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3017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BM25 indices are saved to disk per document and reloaded on demand—verified to survive a full backend restart with zero re-upload. Replaced an in-memory-only design.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2F7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47274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46908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Batched Simplification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5303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+ key-point extraction run in batches of 5 chunks per call at upload time—added after the original one-call-per-chunk design took 20+ minutes on a 194-page PDF.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9320" y="443484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2F7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47274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46908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Citation-Verified Answers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09360" y="5303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must return chunk-level citations; the backend checks every cited ID was actually retrieved before the answer reaches the user.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Simplifier  •  Prodapt Hackathon  •  Group 17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Choices made for a 3.5-hour, judged build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4937760"/>
        </p:xfrm>
        <a:graphic>
          <a:graphicData uri="http://schemas.openxmlformats.org/drawingml/2006/table">
            <a:tbl>
              <a:tblPr/>
              <a:tblGrid>
                <a:gridCol w="1463040"/>
                <a:gridCol w="5029200"/>
                <a:gridCol w="4233672"/>
              </a:tblGrid>
              <a:tr h="4488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(Python)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Async-friendly, fast to stand up, clean REST layer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path to a working UI in a time-boxed build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Extraction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PyMuPDF (fitz)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 text extraction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Chunking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semantic sentence chunker — 10–20 sentences/chunk, cut at the lowest-similarity sentence pair, 2-sentence overlap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Boundaries land on real topic shifts, not an arbitrary count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sentence-transformers, BAAI/bge-small-en-v1.5, 384-dim (local)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Avoids per-request latency and demo-day Wi-Fi dependency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Search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IndexFlatIP, persisted to disk per document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Survives a backend restart without re-uploading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Search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(rank_bm25) + RRF fusion with FAISS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retrieval accuracy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 Store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TinyDB, single JSON file (backend/db/db.json)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Avoids a server/Docker dependency in the build window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gpt-4o-mini; simplify + key points batched 5 chunks/call at upload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Cuts a 542-chunk document to ~109 calls instead of 542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 (@traceable) on every LLM call; no-op until configured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complete; not yet run against a live LangSmith account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Simplifier  •  Prodapt Hackathon  •  Group 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pipeline — runs once per document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30704" cy="1417320"/>
          </a:xfrm>
          <a:prstGeom prst="roundRect">
            <a:avLst>
              <a:gd name="adj" fmla="val 5161"/>
            </a:avLst>
          </a:prstGeom>
          <a:solidFill>
            <a:srgbClr val="F2F7F9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920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7512" y="2249424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PDF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7512" y="2724912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via Streamlit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3025064" y="231800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36544" y="1828800"/>
            <a:ext cx="2430704" cy="1417320"/>
          </a:xfrm>
          <a:prstGeom prst="roundRect">
            <a:avLst>
              <a:gd name="adj" fmla="val 5161"/>
            </a:avLst>
          </a:prstGeom>
          <a:solidFill>
            <a:srgbClr val="F2F7F9"/>
          </a:solidFill>
          <a:ln/>
        </p:spPr>
      </p:sp>
      <p:sp>
        <p:nvSpPr>
          <p:cNvPr id="10" name="Text 8"/>
          <p:cNvSpPr/>
          <p:nvPr/>
        </p:nvSpPr>
        <p:spPr>
          <a:xfrm>
            <a:off x="3555416" y="1920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55416" y="2249424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+ Chunk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55416" y="2724912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PyMuPDF; semantic split, 10–20 sentences, 2-sentence overlap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5912968" y="231800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24448" y="1828800"/>
            <a:ext cx="2430704" cy="1417320"/>
          </a:xfrm>
          <a:prstGeom prst="roundRect">
            <a:avLst>
              <a:gd name="adj" fmla="val 5161"/>
            </a:avLst>
          </a:prstGeom>
          <a:solidFill>
            <a:srgbClr val="F2F7F9"/>
          </a:solidFill>
          <a:ln/>
        </p:spPr>
      </p:sp>
      <p:sp>
        <p:nvSpPr>
          <p:cNvPr id="15" name="Text 13"/>
          <p:cNvSpPr/>
          <p:nvPr/>
        </p:nvSpPr>
        <p:spPr>
          <a:xfrm>
            <a:off x="6443320" y="1920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3320" y="2249424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Redact PII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43320" y="2724912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Regex: emails, phones, account/SSN-like patterns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8800871" y="231800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12351" y="1828800"/>
            <a:ext cx="2430704" cy="1417320"/>
          </a:xfrm>
          <a:prstGeom prst="roundRect">
            <a:avLst>
              <a:gd name="adj" fmla="val 5161"/>
            </a:avLst>
          </a:prstGeom>
          <a:solidFill>
            <a:srgbClr val="F2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9331223" y="1920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31223" y="2249424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31223" y="2724912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model: BAAI/bge-small-en-v1.5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685800" y="3310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3393338" cy="1417320"/>
          </a:xfrm>
          <a:prstGeom prst="roundRect">
            <a:avLst>
              <a:gd name="adj" fmla="val 5161"/>
            </a:avLst>
          </a:prstGeom>
          <a:solidFill>
            <a:srgbClr val="F2F7F9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" y="3794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" y="4123944"/>
            <a:ext cx="3155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+ Store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7512" y="4599432"/>
            <a:ext cx="3155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BM25, persisted to disk; metadata to TinyDB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3987698" y="419252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399178" y="3703320"/>
            <a:ext cx="3393338" cy="1417320"/>
          </a:xfrm>
          <a:prstGeom prst="roundRect">
            <a:avLst>
              <a:gd name="adj" fmla="val 5161"/>
            </a:avLst>
          </a:prstGeom>
          <a:solidFill>
            <a:srgbClr val="F2F7F9"/>
          </a:solidFill>
          <a:ln/>
        </p:spPr>
      </p:sp>
      <p:sp>
        <p:nvSpPr>
          <p:cNvPr id="30" name="Text 28"/>
          <p:cNvSpPr/>
          <p:nvPr/>
        </p:nvSpPr>
        <p:spPr>
          <a:xfrm>
            <a:off x="4518050" y="3794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18050" y="4123944"/>
            <a:ext cx="3155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 + Key Points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18050" y="4599432"/>
            <a:ext cx="3155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gpt-4o-mini, batched 5 chunks/call, runs eagerly at upload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7838237" y="419252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249717" y="3703320"/>
            <a:ext cx="3393338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8368589" y="3794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E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68589" y="4123944"/>
            <a:ext cx="3155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Results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368589" y="4599432"/>
            <a:ext cx="3155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D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text + key points saved to TinyDB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548640" y="5349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+ key points run eagerly for every chunk at upload time—before any question is asked—by deliberate design, not on-demand.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Simplifier  •  Prodapt Hackathon  •  Group 17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Query-time pipeline — runs once per question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874520" cy="1874520"/>
          </a:xfrm>
          <a:prstGeom prst="roundRect">
            <a:avLst>
              <a:gd name="adj" fmla="val 4390"/>
            </a:avLst>
          </a:prstGeom>
          <a:solidFill>
            <a:srgbClr val="F2F7F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395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Question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in the chat box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2318347" y="29489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53614" y="2286000"/>
            <a:ext cx="1874520" cy="1874520"/>
          </a:xfrm>
          <a:prstGeom prst="roundRect">
            <a:avLst>
              <a:gd name="adj" fmla="val 4390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2990774" y="2395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E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90774" y="27889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Guardrails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90774" y="32918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check active. Prompt-injection check disabled by default in this environment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623321" y="29489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158588" y="2286000"/>
            <a:ext cx="1874520" cy="1874520"/>
          </a:xfrm>
          <a:prstGeom prst="roundRect">
            <a:avLst>
              <a:gd name="adj" fmla="val 4390"/>
            </a:avLst>
          </a:prstGeom>
          <a:solidFill>
            <a:srgbClr val="F2F7F9"/>
          </a:solidFill>
          <a:ln/>
        </p:spPr>
      </p:sp>
      <p:sp>
        <p:nvSpPr>
          <p:cNvPr id="15" name="Text 13"/>
          <p:cNvSpPr/>
          <p:nvPr/>
        </p:nvSpPr>
        <p:spPr>
          <a:xfrm>
            <a:off x="5295748" y="2395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95748" y="27889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Retrieve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295748" y="32918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FAISS combined via RRF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6928295" y="29489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463561" y="2286000"/>
            <a:ext cx="1874520" cy="1874520"/>
          </a:xfrm>
          <a:prstGeom prst="roundRect">
            <a:avLst>
              <a:gd name="adj" fmla="val 4390"/>
            </a:avLst>
          </a:prstGeom>
          <a:solidFill>
            <a:srgbClr val="F2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7600721" y="2395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00721" y="27889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Call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00721" y="32918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gpt-4o-mini, traced via LangSmith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9233268" y="29489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68535" y="2286000"/>
            <a:ext cx="1874520" cy="1874520"/>
          </a:xfrm>
          <a:prstGeom prst="roundRect">
            <a:avLst>
              <a:gd name="adj" fmla="val 4390"/>
            </a:avLst>
          </a:prstGeom>
          <a:solidFill>
            <a:srgbClr val="F2F7F9"/>
          </a:solidFill>
          <a:ln/>
        </p:spPr>
      </p:sp>
      <p:sp>
        <p:nvSpPr>
          <p:cNvPr id="25" name="Text 23"/>
          <p:cNvSpPr/>
          <p:nvPr/>
        </p:nvSpPr>
        <p:spPr>
          <a:xfrm>
            <a:off x="9905695" y="2395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05695" y="27889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Validation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905695" y="32918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check against retrieved chunks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54864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returned with cited source chunks, so users can trace every answer back to the document.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Simplifier  •  Prodapt Hackathon  •  Group 17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PII &amp; DATA PRIVACY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guardrails—status verified, not assumed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2286000"/>
          </a:xfrm>
          <a:prstGeom prst="roundRect">
            <a:avLst>
              <a:gd name="adj" fmla="val 3600"/>
            </a:avLst>
          </a:prstGeom>
          <a:solidFill>
            <a:srgbClr val="F2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82880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96" dirty="0"/>
          </a:p>
        </p:txBody>
      </p:sp>
      <p:sp>
        <p:nvSpPr>
          <p:cNvPr id="7" name="Text 5"/>
          <p:cNvSpPr/>
          <p:nvPr/>
        </p:nvSpPr>
        <p:spPr>
          <a:xfrm>
            <a:off x="1444752" y="17739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PII Redaction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891686" y="1828800"/>
            <a:ext cx="1548994" cy="292608"/>
          </a:xfrm>
          <a:prstGeom prst="roundRect">
            <a:avLst>
              <a:gd name="adj" fmla="val 50000"/>
            </a:avLst>
          </a:prstGeom>
          <a:solidFill>
            <a:srgbClr val="1C9C6B"/>
          </a:solidFill>
          <a:ln/>
        </p:spPr>
      </p:sp>
      <p:sp>
        <p:nvSpPr>
          <p:cNvPr id="9" name="Text 7"/>
          <p:cNvSpPr/>
          <p:nvPr/>
        </p:nvSpPr>
        <p:spPr>
          <a:xfrm>
            <a:off x="3891686" y="1828800"/>
            <a:ext cx="15489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· VERIFIED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" y="2450592"/>
            <a:ext cx="4535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Regex-based detection of emails, phones, account/SSN-like patterns, applied before any text is embedded, indexed, or reaches the LLM.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989320" y="1554480"/>
            <a:ext cx="5120640" cy="2286000"/>
          </a:xfrm>
          <a:prstGeom prst="roundRect">
            <a:avLst>
              <a:gd name="adj" fmla="val 3600"/>
            </a:avLst>
          </a:prstGeom>
          <a:solidFill>
            <a:srgbClr val="F2F7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281928" y="1828800"/>
            <a:ext cx="420624" cy="420624"/>
          </a:xfrm>
          <a:prstGeom prst="ellipse">
            <a:avLst/>
          </a:prstGeom>
          <a:solidFill>
            <a:srgbClr val="C97A1D"/>
          </a:solidFill>
          <a:ln/>
        </p:spPr>
      </p:sp>
      <p:sp>
        <p:nvSpPr>
          <p:cNvPr id="13" name="Text 11"/>
          <p:cNvSpPr/>
          <p:nvPr/>
        </p:nvSpPr>
        <p:spPr>
          <a:xfrm>
            <a:off x="6281928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96" dirty="0"/>
          </a:p>
        </p:txBody>
      </p:sp>
      <p:sp>
        <p:nvSpPr>
          <p:cNvPr id="14" name="Text 12"/>
          <p:cNvSpPr/>
          <p:nvPr/>
        </p:nvSpPr>
        <p:spPr>
          <a:xfrm>
            <a:off x="6885432" y="17739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Prompt-Injection Detection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82405" y="1828800"/>
            <a:ext cx="1698955" cy="292608"/>
          </a:xfrm>
          <a:prstGeom prst="roundRect">
            <a:avLst>
              <a:gd name="adj" fmla="val 50000"/>
            </a:avLst>
          </a:prstGeom>
          <a:solidFill>
            <a:srgbClr val="C97A1D"/>
          </a:solidFill>
          <a:ln/>
        </p:spPr>
      </p:sp>
      <p:sp>
        <p:nvSpPr>
          <p:cNvPr id="16" name="Text 14"/>
          <p:cNvSpPr/>
          <p:nvPr/>
        </p:nvSpPr>
        <p:spPr>
          <a:xfrm>
            <a:off x="9182405" y="1828800"/>
            <a:ext cx="16989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BY DEFAULT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81928" y="2450592"/>
            <a:ext cx="4535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 classifier (protectai/deberta-v3-base-prompt-injection-v2), loaded at startup. Fails open with a logged warning if the model can't load.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5120640" cy="2286000"/>
          </a:xfrm>
          <a:prstGeom prst="roundRect">
            <a:avLst>
              <a:gd name="adj" fmla="val 3600"/>
            </a:avLst>
          </a:prstGeom>
          <a:solidFill>
            <a:srgbClr val="F2F7F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1248" y="4389120"/>
            <a:ext cx="420624" cy="420624"/>
          </a:xfrm>
          <a:prstGeom prst="ellipse">
            <a:avLst/>
          </a:prstGeom>
          <a:solidFill>
            <a:srgbClr val="C97A1D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96" dirty="0"/>
          </a:p>
        </p:txBody>
      </p:sp>
      <p:sp>
        <p:nvSpPr>
          <p:cNvPr id="21" name="Text 19"/>
          <p:cNvSpPr/>
          <p:nvPr/>
        </p:nvSpPr>
        <p:spPr>
          <a:xfrm>
            <a:off x="1444752" y="43342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Validation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041648" y="4389120"/>
            <a:ext cx="1399032" cy="292608"/>
          </a:xfrm>
          <a:prstGeom prst="roundRect">
            <a:avLst>
              <a:gd name="adj" fmla="val 50000"/>
            </a:avLst>
          </a:prstGeom>
          <a:solidFill>
            <a:srgbClr val="C97A1D"/>
          </a:solidFill>
          <a:ln/>
        </p:spPr>
      </p:sp>
      <p:sp>
        <p:nvSpPr>
          <p:cNvPr id="23" name="Text 21"/>
          <p:cNvSpPr/>
          <p:nvPr/>
        </p:nvSpPr>
        <p:spPr>
          <a:xfrm>
            <a:off x="4041648" y="4389120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· CAVEAT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41248" y="5010912"/>
            <a:ext cx="4535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below a 0.3 similarity threshold are flagged as off-topic. An off-topic test case scored ≥0.3 anyway; the LLM still declined and citation checks backed it up.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5989320" y="4114800"/>
            <a:ext cx="5120640" cy="2286000"/>
          </a:xfrm>
          <a:prstGeom prst="roundRect">
            <a:avLst>
              <a:gd name="adj" fmla="val 3600"/>
            </a:avLst>
          </a:prstGeom>
          <a:solidFill>
            <a:srgbClr val="F2F7F9"/>
          </a:solidFill>
          <a:ln/>
        </p:spPr>
      </p:sp>
      <p:sp>
        <p:nvSpPr>
          <p:cNvPr id="26" name="Shape 24"/>
          <p:cNvSpPr/>
          <p:nvPr/>
        </p:nvSpPr>
        <p:spPr>
          <a:xfrm>
            <a:off x="6281928" y="438912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281928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96" dirty="0"/>
          </a:p>
        </p:txBody>
      </p:sp>
      <p:sp>
        <p:nvSpPr>
          <p:cNvPr id="28" name="Text 26"/>
          <p:cNvSpPr/>
          <p:nvPr/>
        </p:nvSpPr>
        <p:spPr>
          <a:xfrm>
            <a:off x="6885432" y="43342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Validation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332366" y="4389120"/>
            <a:ext cx="1548994" cy="292608"/>
          </a:xfrm>
          <a:prstGeom prst="roundRect">
            <a:avLst>
              <a:gd name="adj" fmla="val 50000"/>
            </a:avLst>
          </a:prstGeom>
          <a:solidFill>
            <a:srgbClr val="1C9C6B"/>
          </a:solidFill>
          <a:ln/>
        </p:spPr>
      </p:sp>
      <p:sp>
        <p:nvSpPr>
          <p:cNvPr id="30" name="Text 28"/>
          <p:cNvSpPr/>
          <p:nvPr/>
        </p:nvSpPr>
        <p:spPr>
          <a:xfrm>
            <a:off x="9332366" y="4389120"/>
            <a:ext cx="15489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· VERIFIED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81928" y="5010912"/>
            <a:ext cx="4535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must return JSON with a citations field; the backend confirms every cited chunk ID was part of the retrieved context before returning the answer.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Simplifier  •  Prodapt Hackathon  •  Group 17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&amp; STORAGE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TinyDB — four tables, field names from the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directly from backend/routes/documents.py and backend/routes/qa.py—not guessed.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2F7F9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185416"/>
            <a:ext cx="160020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8541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60320" y="21854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per uploaded document.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2743200"/>
            <a:ext cx="4608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doc_id, filename, content_type, upload_time, file_path, num_chunks, word_count, status, error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5989320" y="196596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2F7F9"/>
          </a:solidFill>
          <a:ln/>
        </p:spPr>
      </p:sp>
      <p:sp>
        <p:nvSpPr>
          <p:cNvPr id="11" name="Shape 9"/>
          <p:cNvSpPr/>
          <p:nvPr/>
        </p:nvSpPr>
        <p:spPr>
          <a:xfrm>
            <a:off x="6245352" y="2185416"/>
            <a:ext cx="160020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45352" y="218541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01000" y="21854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per chunk, post-PII-redaction.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45352" y="2743200"/>
            <a:ext cx="4608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chunk_id, doc_id, chunk_index, text, sentence_start, sentence_end, pii_redacted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48640" y="4187952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2F7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4407408"/>
            <a:ext cx="160020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4074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key_points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60320" y="44074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text + key points per chunk.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" y="4965192"/>
            <a:ext cx="4608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doc_id, chunk_id, chunk_index, simplified_text, key_points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5989320" y="4187952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2F7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245352" y="4407408"/>
            <a:ext cx="160020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245352" y="44074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qa_history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01000" y="44074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per question asked.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45352" y="4965192"/>
            <a:ext cx="4608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doc_id, question, answer, citations, blocked, block_reason, timestamp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Simplifier  •  Prodapt Hackathon  •  Group 17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upload to a grounded 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F2F7F9"/>
          </a:solidFill>
          <a:ln w="12700">
            <a:solidFill>
              <a:srgbClr val="E1E8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5900" y="21488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 PDF/TXT document via the Streamlit interface.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81528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55848" y="1828800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3108" y="21488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29310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3538728" y="3017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84448" y="35204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extracts, semantically chunks, redacts PII, embeds locally, and builds FAISS + BM25 indices persisted to disk.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88736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63056" y="1828800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F2F7F9"/>
          </a:solidFill>
          <a:ln w="12700">
            <a:solidFill>
              <a:srgbClr val="E1E8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00316" y="21488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100316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20" dirty="0"/>
          </a:p>
        </p:txBody>
      </p:sp>
      <p:sp>
        <p:nvSpPr>
          <p:cNvPr id="19" name="Text 17"/>
          <p:cNvSpPr/>
          <p:nvPr/>
        </p:nvSpPr>
        <p:spPr>
          <a:xfrm>
            <a:off x="6345936" y="3017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91656" y="35204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returns a simplified version of each section plus extracted key points.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95944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970264" y="1828800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07524" y="2148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9907524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20" dirty="0"/>
          </a:p>
        </p:txBody>
      </p:sp>
      <p:sp>
        <p:nvSpPr>
          <p:cNvPr id="25" name="Text 23"/>
          <p:cNvSpPr/>
          <p:nvPr/>
        </p:nvSpPr>
        <p:spPr>
          <a:xfrm>
            <a:off x="9153144" y="3017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98864" y="35204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questions in a chat box; guardrails, hybrid retrieval, a grounded LLM call, and output validation run before the cited answer is shown.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Simplifier  •  Prodapt Hackathon  •  Group 17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verified, what's partial, what's deferred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below reflects direct testing during the build—real uploads, real questions, real restarts—not just written and assumed to work.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4526280"/>
          </a:xfrm>
          <a:prstGeom prst="roundRect">
            <a:avLst>
              <a:gd name="adj" fmla="val 2338"/>
            </a:avLst>
          </a:prstGeom>
          <a:solidFill>
            <a:srgbClr val="F2F7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3520440" cy="457200"/>
          </a:xfrm>
          <a:prstGeom prst="roundRect">
            <a:avLst>
              <a:gd name="adj" fmla="val 18000"/>
            </a:avLst>
          </a:prstGeom>
          <a:solidFill>
            <a:srgbClr val="1C9C6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11680"/>
            <a:ext cx="3520440" cy="228600"/>
          </a:xfrm>
          <a:prstGeom prst="rect">
            <a:avLst/>
          </a:prstGeom>
          <a:solidFill>
            <a:srgbClr val="1C9C6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83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&amp; WORKING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432304"/>
            <a:ext cx="73152" cy="73152"/>
          </a:xfrm>
          <a:prstGeom prst="ellipse">
            <a:avLst/>
          </a:prstGeom>
          <a:solidFill>
            <a:srgbClr val="1C9C6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77440"/>
            <a:ext cx="29718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ingestion: extraction, semantic chunking, PII redaction, embedding, FAISS + BM25 indexing, TinyDB storage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731520" y="3095244"/>
            <a:ext cx="73152" cy="73152"/>
          </a:xfrm>
          <a:prstGeom prst="ellipse">
            <a:avLst/>
          </a:prstGeom>
          <a:solidFill>
            <a:srgbClr val="1C9C6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40380"/>
            <a:ext cx="2971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BM25 persistence across a full backend restart, zero re-upload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731520" y="3598164"/>
            <a:ext cx="73152" cy="73152"/>
          </a:xfrm>
          <a:prstGeom prst="ellipse">
            <a:avLst/>
          </a:prstGeom>
          <a:solidFill>
            <a:srgbClr val="1C9C6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43300"/>
            <a:ext cx="29718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simplification + key-point extraction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731520" y="3941064"/>
            <a:ext cx="73152" cy="73152"/>
          </a:xfrm>
          <a:prstGeom prst="ellipse">
            <a:avLst/>
          </a:prstGeom>
          <a:solidFill>
            <a:srgbClr val="1C9C6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886200"/>
            <a:ext cx="2971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(BM25 + FAISS + RRF) and cited grounded Q&amp;A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731520" y="4443984"/>
            <a:ext cx="73152" cy="73152"/>
          </a:xfrm>
          <a:prstGeom prst="ellipse">
            <a:avLst/>
          </a:prstGeom>
          <a:solidFill>
            <a:srgbClr val="1C9C6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389120"/>
            <a:ext cx="29718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 (citation checking)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731520" y="4786884"/>
            <a:ext cx="73152" cy="73152"/>
          </a:xfrm>
          <a:prstGeom prst="ellipse">
            <a:avLst/>
          </a:prstGeom>
          <a:solidFill>
            <a:srgbClr val="1C9C6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732020"/>
            <a:ext cx="29718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redaction, verified against stored data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731520" y="5129784"/>
            <a:ext cx="73152" cy="73152"/>
          </a:xfrm>
          <a:prstGeom prst="ellipse">
            <a:avLst/>
          </a:prstGeom>
          <a:solidFill>
            <a:srgbClr val="1C9C6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074920"/>
            <a:ext cx="2971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Streamlit wired together with a one-command launcher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4297680" y="1783080"/>
            <a:ext cx="3520440" cy="4526280"/>
          </a:xfrm>
          <a:prstGeom prst="roundRect">
            <a:avLst>
              <a:gd name="adj" fmla="val 2338"/>
            </a:avLst>
          </a:prstGeom>
          <a:solidFill>
            <a:srgbClr val="F2F7F9"/>
          </a:solidFill>
          <a:ln/>
        </p:spPr>
      </p:sp>
      <p:sp>
        <p:nvSpPr>
          <p:cNvPr id="24" name="Shape 22"/>
          <p:cNvSpPr/>
          <p:nvPr/>
        </p:nvSpPr>
        <p:spPr>
          <a:xfrm>
            <a:off x="4297680" y="1783080"/>
            <a:ext cx="3520440" cy="457200"/>
          </a:xfrm>
          <a:prstGeom prst="roundRect">
            <a:avLst>
              <a:gd name="adj" fmla="val 18000"/>
            </a:avLst>
          </a:prstGeom>
          <a:solidFill>
            <a:srgbClr val="C97A1D"/>
          </a:solidFill>
          <a:ln/>
        </p:spPr>
      </p:sp>
      <p:sp>
        <p:nvSpPr>
          <p:cNvPr id="25" name="Shape 23"/>
          <p:cNvSpPr/>
          <p:nvPr/>
        </p:nvSpPr>
        <p:spPr>
          <a:xfrm>
            <a:off x="4297680" y="2011680"/>
            <a:ext cx="3520440" cy="228600"/>
          </a:xfrm>
          <a:prstGeom prst="rect">
            <a:avLst/>
          </a:prstGeom>
          <a:solidFill>
            <a:srgbClr val="C97A1D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1783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NOT FULLY VERIFIED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80560" y="2432304"/>
            <a:ext cx="73152" cy="73152"/>
          </a:xfrm>
          <a:prstGeom prst="ellipse">
            <a:avLst/>
          </a:prstGeom>
          <a:solidFill>
            <a:srgbClr val="C97A1D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2377440"/>
            <a:ext cx="2971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classifier — code complete, disabled by default, not evaluated against real attacks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4480560" y="2935224"/>
            <a:ext cx="73152" cy="73152"/>
          </a:xfrm>
          <a:prstGeom prst="ellipse">
            <a:avLst/>
          </a:prstGeom>
          <a:solidFill>
            <a:srgbClr val="C97A1D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2880360"/>
            <a:ext cx="29718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tracing — wraps every LLM call, but never run against a live LangSmith account in this build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4480560" y="3598164"/>
            <a:ext cx="73152" cy="73152"/>
          </a:xfrm>
          <a:prstGeom prst="ellipse">
            <a:avLst/>
          </a:prstGeom>
          <a:solidFill>
            <a:srgbClr val="C97A1D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3543300"/>
            <a:ext cx="2971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validation — active, but the 0.3 threshold missed a known off-topic test case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8046720" y="1783080"/>
            <a:ext cx="3520440" cy="4526280"/>
          </a:xfrm>
          <a:prstGeom prst="roundRect">
            <a:avLst>
              <a:gd name="adj" fmla="val 2338"/>
            </a:avLst>
          </a:prstGeom>
          <a:solidFill>
            <a:srgbClr val="F2F7F9"/>
          </a:solidFill>
          <a:ln/>
        </p:spPr>
      </p:sp>
      <p:sp>
        <p:nvSpPr>
          <p:cNvPr id="34" name="Shape 32"/>
          <p:cNvSpPr/>
          <p:nvPr/>
        </p:nvSpPr>
        <p:spPr>
          <a:xfrm>
            <a:off x="8046720" y="1783080"/>
            <a:ext cx="3520440" cy="457200"/>
          </a:xfrm>
          <a:prstGeom prst="roundRect">
            <a:avLst>
              <a:gd name="adj" fmla="val 18000"/>
            </a:avLst>
          </a:prstGeom>
          <a:solidFill>
            <a:srgbClr val="5B6B7C"/>
          </a:solidFill>
          <a:ln/>
        </p:spPr>
      </p:sp>
      <p:sp>
        <p:nvSpPr>
          <p:cNvPr id="35" name="Shape 33"/>
          <p:cNvSpPr/>
          <p:nvPr/>
        </p:nvSpPr>
        <p:spPr>
          <a:xfrm>
            <a:off x="8046720" y="2011680"/>
            <a:ext cx="3520440" cy="228600"/>
          </a:xfrm>
          <a:prstGeom prst="rect">
            <a:avLst/>
          </a:prstGeom>
          <a:solidFill>
            <a:srgbClr val="5B6B7C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1783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BY CHOICE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229600" y="2432304"/>
            <a:ext cx="73152" cy="73152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2377440"/>
            <a:ext cx="2971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deduplication — every upload gets a fresh doc_id, even for identical content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8229600" y="2935224"/>
            <a:ext cx="73152" cy="73152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0" y="2880360"/>
            <a:ext cx="2971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Document-delete API — cleanup so far is one-off scripts, not an endpoint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8229600" y="3438144"/>
            <a:ext cx="73152" cy="73152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42" name="Text 40"/>
          <p:cNvSpPr/>
          <p:nvPr/>
        </p:nvSpPr>
        <p:spPr>
          <a:xfrm>
            <a:off x="8412480" y="3383280"/>
            <a:ext cx="29718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support for scanned/image-only PDFs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8229600" y="3781044"/>
            <a:ext cx="73152" cy="73152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44" name="Text 42"/>
          <p:cNvSpPr/>
          <p:nvPr/>
        </p:nvSpPr>
        <p:spPr>
          <a:xfrm>
            <a:off x="8412480" y="3726180"/>
            <a:ext cx="2971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 — verification has been manual/scripted so far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8229600" y="4283964"/>
            <a:ext cx="73152" cy="73152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46" name="Text 44"/>
          <p:cNvSpPr/>
          <p:nvPr/>
        </p:nvSpPr>
        <p:spPr>
          <a:xfrm>
            <a:off x="8412480" y="4229100"/>
            <a:ext cx="2971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faiss-service/ microservice — present in the repo, unused</a:t>
            </a:r>
            <a:endParaRPr lang="en-US" sz="870" dirty="0"/>
          </a:p>
        </p:txBody>
      </p:sp>
      <p:sp>
        <p:nvSpPr>
          <p:cNvPr id="47" name="Text 4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Simplifier  •  Prodapt Hackathon  •  Group 17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limitations, accepted by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tradeoffs of the current design—distinct from the deferred items on the previous slide.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2F7F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9572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△</a:t>
            </a:r>
            <a:endParaRPr lang="en-US" sz="1196" dirty="0"/>
          </a:p>
        </p:txBody>
      </p:sp>
      <p:sp>
        <p:nvSpPr>
          <p:cNvPr id="8" name="Text 6"/>
          <p:cNvSpPr/>
          <p:nvPr/>
        </p:nvSpPr>
        <p:spPr>
          <a:xfrm>
            <a:off x="1463040" y="2359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storage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folder storage and TinyDB are prototype-appropriate choices, not production storage design.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5989320" y="210312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2F7F9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239572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△</a:t>
            </a:r>
            <a:endParaRPr lang="en-US" sz="1196" dirty="0"/>
          </a:p>
        </p:txBody>
      </p:sp>
      <p:sp>
        <p:nvSpPr>
          <p:cNvPr id="13" name="Text 11"/>
          <p:cNvSpPr/>
          <p:nvPr/>
        </p:nvSpPr>
        <p:spPr>
          <a:xfrm>
            <a:off x="6903720" y="2359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Index/metadata can drift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29718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document's on-disk FAISS files are deleted or corrupted while TinyDB still says status: “ready,” a question about it fails with a clear “no index found” error—re-uploading is the fix.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2F7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463600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636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△</a:t>
            </a:r>
            <a:endParaRPr lang="en-US" sz="1196" dirty="0"/>
          </a:p>
        </p:txBody>
      </p:sp>
      <p:sp>
        <p:nvSpPr>
          <p:cNvPr id="18" name="Text 16"/>
          <p:cNvSpPr/>
          <p:nvPr/>
        </p:nvSpPr>
        <p:spPr>
          <a:xfrm>
            <a:off x="1463040" y="45994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Regex sentence splitting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52120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regex heuristic, not an NLP tokenizer, can mis-split on abbreviations (“Dr.”, “e.g.”), occasionally shifting a chunk boundary—text itself is never corrupted.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5989320" y="434340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2F7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463600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4636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△</a:t>
            </a:r>
            <a:endParaRPr lang="en-US" sz="1196" dirty="0"/>
          </a:p>
        </p:txBody>
      </p:sp>
      <p:sp>
        <p:nvSpPr>
          <p:cNvPr id="23" name="Text 21"/>
          <p:cNvSpPr/>
          <p:nvPr/>
        </p:nvSpPr>
        <p:spPr>
          <a:xfrm>
            <a:off x="6903720" y="45994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local embedding pass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52120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chunking embeds every sentence once, pre-redaction, purely to place boundaries—no added cost since it's the same local model, and nothing leaves the process.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Simplifier  •  Prodapt Hackathon  •  Group 17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THE RUBRIC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evaluation area is addressed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4892040"/>
        </p:xfrm>
        <a:graphic>
          <a:graphicData uri="http://schemas.openxmlformats.org/drawingml/2006/table">
            <a:tbl>
              <a:tblPr/>
              <a:tblGrid>
                <a:gridCol w="3291840"/>
                <a:gridCol w="7434072"/>
              </a:tblGrid>
              <a:tr h="444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Address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44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Understanding &amp; Innovation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chunking and persisted retrieval, redesigned after real testing (slides 2–3)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Engineering &amp; LLM Utilization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JSON output with mandatory citations; batched gpt-4o-mini calls (slide 4)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Modeling &amp; DB Design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TinyDB, four tables with field names read directly from the code (slide 8)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Architecture &amp; Code Flow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verified pipelines: 7-step ingestion and 5-step query-time (slides 5–6)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Stack Selection &amp; Reasoning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choice justified against the 3.5-hour build constraint (slide 4)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&amp; Technical Docs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architecture document and deck itself (all slides)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Scalability, Performance &amp; Testing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Verified/partial/deferred status stated explicitly, not glossed over (slides 10–11)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Security, PII &amp; Data Privacy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guardrails with honestly reported status, including one disabled by default (slide 7)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&amp; Communication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Step-by-step user workflow ready to walk through live (slide 9)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Value &amp; Impact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comprehension and trustworthy, cited answers for any long document (slide 13)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Simplifier  •  Prodapt Hackathon  •  Group 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943600" cy="59436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4754880" cy="475488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every document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easy to trust as it is to read.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Simplifier  —  Prodapt Hackathon, Group 17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Simplifier  •  Prodapt Hackathon  •  Group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2026-08-12T08:19:31Z</dcterms:created>
  <dcterms:modified xsi:type="dcterms:W3CDTF">2026-08-12T08:19:31Z</dcterms:modified>
</cp:coreProperties>
</file>